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assignment and the main architectural choices: REST at the edge, gRPC internally, Redis/Kafka for hot and async paths, and region-local writes.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functional and non-functional requirements. Stress that latency and multi-region constraints drive the technical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service and clarify why REST is used at the edge and gRPC internally.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exact data flow from rider request to assignment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dive into Dispatch and Matching. Mention why this was selected for LLD.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API split and mention the main event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ERD and how hot state differs from durable transactional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resilience across retries, backpressure, circuit breakers, and failure modes.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region-local write strategy and failover trade-offs.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SOS is a valuable feature and how it is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live demo checklist and closing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2A"/>
                </a:solidFill>
              </a:rPr>
              <a:t>Multi-Region Ride-Hailing Platform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21792" y="135331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B"/>
                </a:solidFill>
              </a:rPr>
              <a:t>Java 17 | Spring Boot | Maven | Eureka | gRPC | Kafka/Pulsar | Redis | Postgres/CockroachDB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874520" cy="594360"/>
          </a:xfrm>
          <a:prstGeom prst="roundRect">
            <a:avLst>
              <a:gd name="adj" fmla="val 6154"/>
            </a:avLst>
          </a:prstGeom>
          <a:solidFill>
            <a:srgbClr val="EFF3F6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21992"/>
            <a:ext cx="16916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REST edge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80360" y="2148840"/>
            <a:ext cx="2057400" cy="594360"/>
          </a:xfrm>
          <a:prstGeom prst="roundRect">
            <a:avLst>
              <a:gd name="adj" fmla="val 6154"/>
            </a:avLst>
          </a:prstGeom>
          <a:solidFill>
            <a:srgbClr val="E8F5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2221992"/>
            <a:ext cx="18745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gRPC hot path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57800" y="2148840"/>
            <a:ext cx="2057400" cy="59436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2221992"/>
            <a:ext cx="18745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Redis + Kafka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35240" y="2148840"/>
            <a:ext cx="2240280" cy="594360"/>
          </a:xfrm>
          <a:prstGeom prst="roundRect">
            <a:avLst>
              <a:gd name="adj" fmla="val 6154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2221992"/>
            <a:ext cx="20574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Regional writes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10835640" cy="1508760"/>
          </a:xfrm>
          <a:prstGeom prst="rect">
            <a:avLst/>
          </a:prstGeom>
          <a:solidFill>
            <a:srgbClr val="10202A"/>
          </a:solidFill>
          <a:ln w="12700">
            <a:solidFill>
              <a:srgbClr val="1020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1148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Goal: dispatch decision p95 &lt;= 1s, request-to-acceptance p95 &lt;= 3s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636B"/>
                </a:solidFill>
              </a:rPr>
              <a:t>Multi-Region Ride-Hailing Platform |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REQUIREMENTS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A"/>
                </a:solidFill>
              </a:rPr>
              <a:t>What the platform must handle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8D2DA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789920" cy="4206240"/>
        </p:xfrm>
        <a:graphic>
          <a:graphicData uri="http://schemas.openxmlformats.org/drawingml/2006/table">
            <a:tbl>
              <a:tblPr/>
              <a:tblGrid>
                <a:gridCol w="1920240"/>
                <a:gridCol w="886968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A"/>
                          </a:solidFill>
                        </a:rPr>
                        <a:t>Dispatch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A"/>
                          </a:solidFill>
                        </a:rPr>
                        <a:t>p95 &lt;= 1s decision, p95 &lt;= 3s request-to-acceptance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A"/>
                          </a:solidFill>
                        </a:rPr>
                        <a:t>Scale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A"/>
                          </a:solidFill>
                        </a:rPr>
                        <a:t>300k concurrent drivers, 60k rides/min peak, 500k location updates/sec globally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A"/>
                          </a:solidFill>
                        </a:rPr>
                        <a:t>Regions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A"/>
                          </a:solidFill>
                        </a:rPr>
                        <a:t>Region-local writes, no cross-region sync on hot path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A"/>
                          </a:solidFill>
                        </a:rPr>
                        <a:t>Reliability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A"/>
                          </a:solidFill>
                        </a:rPr>
                        <a:t>99.95% dispatch availability, idempotent mobile APIs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A"/>
                          </a:solidFill>
                        </a:rPr>
                        <a:t>Compliance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A"/>
                          </a:solidFill>
                        </a:rPr>
                        <a:t>PCI, PII encryption, GDPR/DPDP</a:t>
                      </a:r>
                      <a:endParaRPr lang="en-US" sz="13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636B"/>
                </a:solidFill>
              </a:rPr>
              <a:t>Multi-Region Ride-Hailing Platform |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HLD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A"/>
                </a:solidFill>
              </a:rPr>
              <a:t>Bounded contexts and communication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8D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1325880" cy="64008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1143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Rider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REST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1325880" cy="64008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090672"/>
            <a:ext cx="1143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Driver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REST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993392"/>
            <a:ext cx="1417320" cy="731520"/>
          </a:xfrm>
          <a:prstGeom prst="roundRect">
            <a:avLst>
              <a:gd name="adj" fmla="val 5000"/>
            </a:avLst>
          </a:prstGeom>
          <a:solidFill>
            <a:srgbClr val="E8F5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2066544"/>
            <a:ext cx="12344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Dispatch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8080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143000"/>
            <a:ext cx="150876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216152"/>
            <a:ext cx="1325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Location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8081/9091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874520"/>
            <a:ext cx="150876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947672"/>
            <a:ext cx="1325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Surge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8082/9092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606040"/>
            <a:ext cx="150876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679192"/>
            <a:ext cx="1325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Payment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8084/9094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337560"/>
            <a:ext cx="150876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410712"/>
            <a:ext cx="1325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Trip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8083/9093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4069080"/>
            <a:ext cx="150876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4142232"/>
            <a:ext cx="1325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Notify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8085/9095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06040" y="4343400"/>
            <a:ext cx="1234440" cy="54864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4416552"/>
            <a:ext cx="1051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Eureka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8761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1325880"/>
            <a:ext cx="1508760" cy="621792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1399032"/>
            <a:ext cx="13258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Redis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Hot KV/GEO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06640" y="2331720"/>
            <a:ext cx="1508760" cy="621792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2404872"/>
            <a:ext cx="13258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Kafka/Pulsar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Events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06640" y="3337560"/>
            <a:ext cx="1508760" cy="621792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3410712"/>
            <a:ext cx="13258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Postgres/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CockroachDB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784080" y="2606040"/>
            <a:ext cx="1325880" cy="621792"/>
          </a:xfrm>
          <a:prstGeom prst="roundRect">
            <a:avLst>
              <a:gd name="adj" fmla="val 5882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0" y="2679192"/>
            <a:ext cx="11430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External PSP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20240" y="1737360"/>
            <a:ext cx="594360" cy="438912"/>
          </a:xfrm>
          <a:prstGeom prst="line">
            <a:avLst/>
          </a:prstGeom>
          <a:noFill/>
          <a:ln w="15240">
            <a:solidFill>
              <a:srgbClr val="56636B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920240" y="3337560"/>
            <a:ext cx="594360" cy="-795528"/>
          </a:xfrm>
          <a:prstGeom prst="line">
            <a:avLst/>
          </a:prstGeom>
          <a:noFill/>
          <a:ln w="15240">
            <a:solidFill>
              <a:srgbClr val="56636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931920" y="2240280"/>
            <a:ext cx="685800" cy="-795528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931920" y="2240280"/>
            <a:ext cx="685800" cy="-64008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931920" y="2240280"/>
            <a:ext cx="685800" cy="66751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931920" y="2240280"/>
            <a:ext cx="685800" cy="139903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931920" y="2240280"/>
            <a:ext cx="685800" cy="213055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126480" y="1444752"/>
            <a:ext cx="1280160" cy="182880"/>
          </a:xfrm>
          <a:prstGeom prst="line">
            <a:avLst/>
          </a:prstGeom>
          <a:noFill/>
          <a:ln w="15240">
            <a:solidFill>
              <a:srgbClr val="56636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126480" y="2176272"/>
            <a:ext cx="1280160" cy="475488"/>
          </a:xfrm>
          <a:prstGeom prst="line">
            <a:avLst/>
          </a:prstGeom>
          <a:noFill/>
          <a:ln w="15240">
            <a:solidFill>
              <a:srgbClr val="56636B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126480" y="3639312"/>
            <a:ext cx="1280160" cy="0"/>
          </a:xfrm>
          <a:prstGeom prst="line">
            <a:avLst/>
          </a:prstGeom>
          <a:noFill/>
          <a:ln w="15240">
            <a:solidFill>
              <a:srgbClr val="56636B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126480" y="2907792"/>
            <a:ext cx="365760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85800" y="532180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2A"/>
                </a:solidFill>
              </a:rPr>
              <a:t>Public edge = REST/JSON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02A"/>
                </a:solidFill>
              </a:rPr>
              <a:t>Internal hot path = gRPC/HTTP2 + protobuf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636B"/>
                </a:solidFill>
              </a:rPr>
              <a:t>Multi-Region Ride-Hailing Platform |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RIDE 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A"/>
                </a:solidFill>
              </a:rPr>
              <a:t>Request-to-assignment hot path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8D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148840"/>
            <a:ext cx="1143000" cy="658368"/>
          </a:xfrm>
          <a:prstGeom prst="roundRect">
            <a:avLst>
              <a:gd name="adj" fmla="val 5556"/>
            </a:avLst>
          </a:prstGeom>
          <a:solidFill>
            <a:srgbClr val="E8F5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21992"/>
            <a:ext cx="960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POST /rides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09928" y="2478024"/>
            <a:ext cx="27432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84248" y="2148840"/>
            <a:ext cx="1143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75688" y="2221992"/>
            <a:ext cx="960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Record demand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27248" y="2478024"/>
            <a:ext cx="27432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01568" y="2148840"/>
            <a:ext cx="1143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2221992"/>
            <a:ext cx="960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Nearby drivers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44568" y="2478024"/>
            <a:ext cx="27432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18888" y="2148840"/>
            <a:ext cx="1143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2221992"/>
            <a:ext cx="960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Surge quote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61888" y="2478024"/>
            <a:ext cx="27432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36208" y="2148840"/>
            <a:ext cx="1143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2221992"/>
            <a:ext cx="960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Authorize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79208" y="2478024"/>
            <a:ext cx="27432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53528" y="2148840"/>
            <a:ext cx="1143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44968" y="2221992"/>
            <a:ext cx="960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Create trip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796528" y="2478024"/>
            <a:ext cx="27432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70848" y="2148840"/>
            <a:ext cx="11430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62288" y="2221992"/>
            <a:ext cx="960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Notify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213848" y="2478024"/>
            <a:ext cx="27432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488168" y="2148840"/>
            <a:ext cx="1143000" cy="658368"/>
          </a:xfrm>
          <a:prstGeom prst="roundRect">
            <a:avLst>
              <a:gd name="adj" fmla="val 5556"/>
            </a:avLst>
          </a:prstGeom>
          <a:solidFill>
            <a:srgbClr val="E8F5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79608" y="2221992"/>
            <a:ext cx="960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ASSIGNED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" y="3794760"/>
            <a:ext cx="102412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0202A"/>
                </a:solidFill>
              </a:rPr>
              <a:t>Idempotency protects flaky mobile clients from duplicate ride creation.</a:t>
            </a:r>
            <a:endParaRPr lang="en-US" sz="1400" dirty="0"/>
          </a:p>
          <a:p>
            <a:r>
              <a:rPr lang="en-US" sz="1400" dirty="0">
                <a:solidFill>
                  <a:srgbClr val="10202A"/>
                </a:solidFill>
              </a:rPr>
              <a:t>Driver ranking starts simple: tenant + region + availability + nearest distance.</a:t>
            </a:r>
            <a:endParaRPr lang="en-US" sz="1400" dirty="0"/>
          </a:p>
          <a:p>
            <a:r>
              <a:rPr lang="en-US" sz="1400" dirty="0">
                <a:solidFill>
                  <a:srgbClr val="10202A"/>
                </a:solidFill>
              </a:rPr>
              <a:t>Notifications are modeled synchronously in demo, async/queued in production.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636B"/>
                </a:solidFill>
              </a:rPr>
              <a:t>Multi-Region Ride-Hailing Platform |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LLD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A"/>
                </a:solidFill>
              </a:rPr>
              <a:t>Dispatch / Matching deep dive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8D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1371600" cy="59436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99032"/>
            <a:ext cx="1188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RideRequest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325880"/>
            <a:ext cx="13716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399032"/>
            <a:ext cx="1188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Idempotency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check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13716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399032"/>
            <a:ext cx="1188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Geo-cell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compute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13716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399032"/>
            <a:ext cx="1188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Candidate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fetch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92440" y="1325880"/>
            <a:ext cx="137160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399032"/>
            <a:ext cx="1188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Rank + filter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nearest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921240" y="1325880"/>
            <a:ext cx="1371600" cy="594360"/>
          </a:xfrm>
          <a:prstGeom prst="roundRect">
            <a:avLst>
              <a:gd name="adj" fmla="val 6154"/>
            </a:avLst>
          </a:prstGeom>
          <a:solidFill>
            <a:srgbClr val="E8F5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12680" y="1399032"/>
            <a:ext cx="1188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Trip + payment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commit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48840" y="1627632"/>
            <a:ext cx="45720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77640" y="1627632"/>
            <a:ext cx="45720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06440" y="1627632"/>
            <a:ext cx="45720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35240" y="1627632"/>
            <a:ext cx="45720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464040" y="1627632"/>
            <a:ext cx="45720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68680" y="2743200"/>
            <a:ext cx="51206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0202A"/>
                </a:solidFill>
              </a:rPr>
              <a:t>Current ranking: available drivers in same tenant/region sorted by haversine distance.</a:t>
            </a:r>
            <a:endParaRPr lang="en-US" sz="1300" dirty="0"/>
          </a:p>
          <a:p>
            <a:r>
              <a:rPr lang="en-US" sz="1300" dirty="0">
                <a:solidFill>
                  <a:srgbClr val="10202A"/>
                </a:solidFill>
              </a:rPr>
              <a:t>Decline path: exclude previous driver and run matching again.</a:t>
            </a:r>
            <a:endParaRPr lang="en-US" sz="1300" dirty="0"/>
          </a:p>
          <a:p>
            <a:r>
              <a:rPr lang="en-US" sz="1300" dirty="0">
                <a:solidFill>
                  <a:srgbClr val="10202A"/>
                </a:solidFill>
              </a:rPr>
              <a:t>Production ranking can add ETA, traffic, tier eligibility, acceptance score, safety score, and fairness.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743200"/>
            <a:ext cx="51206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0202A"/>
                </a:solidFill>
              </a:rPr>
              <a:t>Latency budget: location 150 ms, surge 80 ms, payment 300 ms, trip 150 ms, buffer 300 ms.</a:t>
            </a:r>
            <a:endParaRPr lang="en-US" sz="1300" dirty="0"/>
          </a:p>
          <a:p>
            <a:r>
              <a:rPr lang="en-US" sz="1300" dirty="0">
                <a:solidFill>
                  <a:srgbClr val="10202A"/>
                </a:solidFill>
              </a:rPr>
              <a:t>No cross-region sync on the hot path.</a:t>
            </a:r>
            <a:endParaRPr lang="en-US" sz="1300" dirty="0"/>
          </a:p>
          <a:p>
            <a:r>
              <a:rPr lang="en-US" sz="1300" dirty="0">
                <a:solidFill>
                  <a:srgbClr val="10202A"/>
                </a:solidFill>
              </a:rPr>
              <a:t>gRPC deadlines and circuit breakers keep Dispatch from hanging on dependencies.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636B"/>
                </a:solidFill>
              </a:rPr>
              <a:t>Multi-Region Ride-Hailing Platform |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APIS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A"/>
                </a:solidFill>
              </a:rPr>
              <a:t>REST outside, gRPC inside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8D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2971800" cy="155448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90472"/>
            <a:ext cx="2788920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REST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POST /rides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PUT /locations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POST /trips/{id}/sos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2971800" cy="2011680"/>
          </a:xfrm>
          <a:prstGeom prst="roundRect">
            <a:avLst>
              <a:gd name="adj" fmla="val 1818"/>
            </a:avLst>
          </a:prstGeom>
          <a:solidFill>
            <a:srgbClr val="E8F5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261872"/>
            <a:ext cx="2788920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gRPC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FindNearbyDrivers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GetSurgeQuote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AuthorizePayment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CreateTrip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SendNotification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75320" y="1417320"/>
            <a:ext cx="2971800" cy="1554480"/>
          </a:xfrm>
          <a:prstGeom prst="roundRect">
            <a:avLst>
              <a:gd name="adj" fmla="val 235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490472"/>
            <a:ext cx="2788920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Events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ride.requested.v1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trip.state.changed.v1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payment.authorization.created.v1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safety.incident.opened.v1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3886200"/>
            <a:ext cx="99669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0202A"/>
                </a:solidFill>
              </a:rPr>
              <a:t>Protobuf source: common/src/main/proto/rides.proto</a:t>
            </a:r>
            <a:endParaRPr lang="en-US" sz="1400" dirty="0"/>
          </a:p>
          <a:p>
            <a:r>
              <a:rPr lang="en-US" sz="1400" dirty="0">
                <a:solidFill>
                  <a:srgbClr val="10202A"/>
                </a:solidFill>
              </a:rPr>
              <a:t>Event envelope includes eventId, topic, tenantId, region, occurredAt, payload</a:t>
            </a:r>
            <a:endParaRPr lang="en-US" sz="1400" dirty="0"/>
          </a:p>
          <a:p>
            <a:r>
              <a:rPr lang="en-US" sz="1400" dirty="0">
                <a:solidFill>
                  <a:srgbClr val="10202A"/>
                </a:solidFill>
              </a:rPr>
              <a:t>Kafka/Pulsar partitions by tenant + region + entity/geo-cell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636B"/>
                </a:solidFill>
              </a:rPr>
              <a:t>Multi-Region Ride-Hailing Platform |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DATA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A"/>
                </a:solidFill>
              </a:rPr>
              <a:t>Dispatch / Matching ERD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8D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E8F5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99032"/>
            <a:ext cx="1691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RIDE_REQUEST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132588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399032"/>
            <a:ext cx="1691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DISPATCH_OFFER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132588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399032"/>
            <a:ext cx="1691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DRIVER_LOCATION_SNAPSHOT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42900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02152"/>
            <a:ext cx="1691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SURGE_QUOTE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342900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3502152"/>
            <a:ext cx="1691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PAYMENT_AUTHORIZATION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342900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3502152"/>
            <a:ext cx="1691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TRIP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3840" y="342900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3502152"/>
            <a:ext cx="1691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02A"/>
                </a:solidFill>
              </a:rPr>
              <a:t>SAFETY_INCIDENT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1655064"/>
            <a:ext cx="502920" cy="0"/>
          </a:xfrm>
          <a:prstGeom prst="line">
            <a:avLst/>
          </a:prstGeom>
          <a:noFill/>
          <a:ln w="15240">
            <a:solidFill>
              <a:srgbClr val="56636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83480" y="1655064"/>
            <a:ext cx="502920" cy="0"/>
          </a:xfrm>
          <a:prstGeom prst="line">
            <a:avLst/>
          </a:prstGeom>
          <a:noFill/>
          <a:ln w="15240">
            <a:solidFill>
              <a:srgbClr val="56636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664208" y="1984248"/>
            <a:ext cx="0" cy="1444752"/>
          </a:xfrm>
          <a:prstGeom prst="line">
            <a:avLst/>
          </a:prstGeom>
          <a:noFill/>
          <a:ln w="15240">
            <a:solidFill>
              <a:srgbClr val="56636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874520" y="1984248"/>
            <a:ext cx="1737360" cy="1444752"/>
          </a:xfrm>
          <a:prstGeom prst="line">
            <a:avLst/>
          </a:prstGeom>
          <a:noFill/>
          <a:ln w="15240">
            <a:solidFill>
              <a:srgbClr val="56636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084832" y="1984248"/>
            <a:ext cx="3950208" cy="1444752"/>
          </a:xfrm>
          <a:prstGeom prst="line">
            <a:avLst/>
          </a:prstGeom>
          <a:noFill/>
          <a:ln w="15240">
            <a:solidFill>
              <a:srgbClr val="56636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60920" y="3758184"/>
            <a:ext cx="50292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68680" y="4983480"/>
            <a:ext cx="102412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0202A"/>
                </a:solidFill>
              </a:rPr>
              <a:t>Ride Request links the orchestration record to offers, quote, authorization, and trip.</a:t>
            </a:r>
            <a:endParaRPr lang="en-US" sz="1300" dirty="0"/>
          </a:p>
          <a:p>
            <a:r>
              <a:rPr lang="en-US" sz="1300" dirty="0">
                <a:solidFill>
                  <a:srgbClr val="10202A"/>
                </a:solidFill>
              </a:rPr>
              <a:t>Driver location snapshots are hot data in Redis; durable event stream preserves history.</a:t>
            </a:r>
            <a:endParaRPr lang="en-US" sz="1300" dirty="0"/>
          </a:p>
          <a:p>
            <a:r>
              <a:rPr lang="en-US" sz="1300" dirty="0">
                <a:solidFill>
                  <a:srgbClr val="10202A"/>
                </a:solidFill>
              </a:rPr>
              <a:t>Safety incident is the chosen additional feature.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636B"/>
                </a:solidFill>
              </a:rPr>
              <a:t>Multi-Region Ride-Hailing Platform |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RESILIENCE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A"/>
                </a:solidFill>
              </a:rPr>
              <a:t>Retries, backpressure, circuit breakers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8D2D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789920" cy="4206240"/>
        </p:xfrm>
        <a:graphic>
          <a:graphicData uri="http://schemas.openxmlformats.org/drawingml/2006/table">
            <a:tbl>
              <a:tblPr/>
              <a:tblGrid>
                <a:gridCol w="3200400"/>
                <a:gridCol w="758952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02A"/>
                          </a:solidFill>
                        </a:rPr>
                        <a:t>Duplicate mobile request</a:t>
                      </a:r>
                      <a:endParaRPr lang="en-US" sz="12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02A"/>
                          </a:solidFill>
                        </a:rPr>
                        <a:t>Idempotency key returns same decision</a:t>
                      </a:r>
                      <a:endParaRPr lang="en-US" sz="12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02A"/>
                          </a:solidFill>
                        </a:rPr>
                        <a:t>Surge unavailable</a:t>
                      </a:r>
                      <a:endParaRPr lang="en-US" sz="12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02A"/>
                          </a:solidFill>
                        </a:rPr>
                        <a:t>Default multiplier 1.0 + metric</a:t>
                      </a:r>
                      <a:endParaRPr lang="en-US" sz="12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02A"/>
                          </a:solidFill>
                        </a:rPr>
                        <a:t>Notification failure</a:t>
                      </a:r>
                      <a:endParaRPr lang="en-US" sz="12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02A"/>
                          </a:solidFill>
                        </a:rPr>
                        <a:t>Queue/retry; do not fail trip creation</a:t>
                      </a:r>
                      <a:endParaRPr lang="en-US" sz="12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02A"/>
                          </a:solidFill>
                        </a:rPr>
                        <a:t>PSP slow</a:t>
                      </a:r>
                      <a:endParaRPr lang="en-US" sz="12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02A"/>
                          </a:solidFill>
                        </a:rPr>
                        <a:t>Timeout, retry, pending state, reconciliation</a:t>
                      </a:r>
                      <a:endParaRPr lang="en-US" sz="12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02A"/>
                          </a:solidFill>
                        </a:rPr>
                        <a:t>Location pressure</a:t>
                      </a:r>
                      <a:endParaRPr lang="en-US" sz="12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02A"/>
                          </a:solidFill>
                        </a:rPr>
                        <a:t>Sample stale updates; shed low-priority traffic</a:t>
                      </a:r>
                      <a:endParaRPr lang="en-US" sz="12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02A"/>
                          </a:solidFill>
                        </a:rPr>
                        <a:t>Region outage</a:t>
                      </a:r>
                      <a:endParaRPr lang="en-US" sz="12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02A"/>
                          </a:solidFill>
                        </a:rPr>
                        <a:t>Failover new requests; async replication catches up</a:t>
                      </a:r>
                      <a:endParaRPr lang="en-US" sz="12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636B"/>
                </a:solidFill>
              </a:rPr>
              <a:t>Multi-Region Ride-Hailing Platform |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MULTI-REGION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A"/>
                </a:solidFill>
              </a:rPr>
              <a:t>Region-local writes on the hot path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8D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2834640" cy="1143000"/>
          </a:xfrm>
          <a:prstGeom prst="roundRect">
            <a:avLst>
              <a:gd name="adj" fmla="val 3200"/>
            </a:avLst>
          </a:prstGeom>
          <a:solidFill>
            <a:srgbClr val="E8F5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90472"/>
            <a:ext cx="265176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Region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Dispatch + Redis + DB + Kafka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17720" y="1417320"/>
            <a:ext cx="2834640" cy="1143000"/>
          </a:xfrm>
          <a:prstGeom prst="roundRect">
            <a:avLst>
              <a:gd name="adj" fmla="val 32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490472"/>
            <a:ext cx="265176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Region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Dispatch + Redis + DB + Kafka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412480" y="1417320"/>
            <a:ext cx="2834640" cy="1143000"/>
          </a:xfrm>
          <a:prstGeom prst="roundRect">
            <a:avLst>
              <a:gd name="adj" fmla="val 3200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1490472"/>
            <a:ext cx="265176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Analytics / DR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Async replication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1984248"/>
            <a:ext cx="960120" cy="0"/>
          </a:xfrm>
          <a:prstGeom prst="line">
            <a:avLst/>
          </a:prstGeom>
          <a:noFill/>
          <a:ln w="15240">
            <a:solidFill>
              <a:srgbClr val="C8D2D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52360" y="1984248"/>
            <a:ext cx="960120" cy="0"/>
          </a:xfrm>
          <a:prstGeom prst="line">
            <a:avLst/>
          </a:prstGeom>
          <a:noFill/>
          <a:ln w="15240">
            <a:solidFill>
              <a:srgbClr val="C8D2DA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0120" y="3657600"/>
            <a:ext cx="100584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0202A"/>
                </a:solidFill>
              </a:rPr>
              <a:t>Hot path never waits for synchronous cross-region writes.</a:t>
            </a:r>
            <a:endParaRPr lang="en-US" sz="1500" dirty="0"/>
          </a:p>
          <a:p>
            <a:r>
              <a:rPr lang="en-US" sz="1500" dirty="0">
                <a:solidFill>
                  <a:srgbClr val="10202A"/>
                </a:solidFill>
              </a:rPr>
              <a:t>Region-local Redis and database writes preserve dispatch latency.</a:t>
            </a:r>
            <a:endParaRPr lang="en-US" sz="1500" dirty="0"/>
          </a:p>
          <a:p>
            <a:r>
              <a:rPr lang="en-US" sz="1500" dirty="0">
                <a:solidFill>
                  <a:srgbClr val="10202A"/>
                </a:solidFill>
              </a:rPr>
              <a:t>Asynchronous replication supports analytics, reconciliation, and disaster recovery.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636B"/>
                </a:solidFill>
              </a:rPr>
              <a:t>Multi-Region Ride-Hailing Platform | 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FEATURE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A"/>
                </a:solidFill>
              </a:rPr>
              <a:t>Trip SOS / safety incident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8D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3108960" cy="7315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90472"/>
            <a:ext cx="29260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POST /trips/{tripId}/sos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417320"/>
            <a:ext cx="2377440" cy="7315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490472"/>
            <a:ext cx="21945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Safety incident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state = OPEN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43800" y="141732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E8F5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490472"/>
            <a:ext cx="23774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Ops alert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location context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783080"/>
            <a:ext cx="54864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49440" y="1783080"/>
            <a:ext cx="59436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05840" y="3154680"/>
            <a:ext cx="97840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0202A"/>
                </a:solidFill>
              </a:rPr>
              <a:t>Implemented in Trip Service as an additional assignment feature.</a:t>
            </a:r>
            <a:endParaRPr lang="en-US" sz="1500" dirty="0"/>
          </a:p>
          <a:p>
            <a:r>
              <a:rPr lang="en-US" sz="1500" dirty="0">
                <a:solidFill>
                  <a:srgbClr val="10202A"/>
                </a:solidFill>
              </a:rPr>
              <a:t>Production workflow publishes safety.incident.opened.v1, alerts support, and attaches recent trip context.</a:t>
            </a:r>
            <a:endParaRPr lang="en-US" sz="1500" dirty="0"/>
          </a:p>
          <a:p>
            <a:r>
              <a:rPr lang="en-US" sz="1500" dirty="0">
                <a:solidFill>
                  <a:srgbClr val="10202A"/>
                </a:solidFill>
              </a:rPr>
              <a:t>This is domain-critical for rider and driver trust.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636B"/>
                </a:solidFill>
              </a:rPr>
              <a:t>Multi-Region Ride-Hailing Platform | 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DEMO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A"/>
                </a:solidFill>
              </a:rPr>
              <a:t>How to showcase the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8D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1024128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0202A"/>
                </a:solidFill>
              </a:rPr>
              <a:t>Start Eureka, then start all microservices.</a:t>
            </a:r>
            <a:endParaRPr lang="en-US" sz="1600" dirty="0"/>
          </a:p>
          <a:p>
            <a:r>
              <a:rPr lang="en-US" sz="1600" dirty="0">
                <a:solidFill>
                  <a:srgbClr val="10202A"/>
                </a:solidFill>
              </a:rPr>
              <a:t>Seed two driver locations through Location REST API.</a:t>
            </a:r>
            <a:endParaRPr lang="en-US" sz="1600" dirty="0"/>
          </a:p>
          <a:p>
            <a:r>
              <a:rPr lang="en-US" sz="1600" dirty="0">
                <a:solidFill>
                  <a:srgbClr val="10202A"/>
                </a:solidFill>
              </a:rPr>
              <a:t>Create a ride through Dispatch REST API.</a:t>
            </a:r>
            <a:endParaRPr lang="en-US" sz="1600" dirty="0"/>
          </a:p>
          <a:p>
            <a:r>
              <a:rPr lang="en-US" sz="1600" dirty="0">
                <a:solidFill>
                  <a:srgbClr val="10202A"/>
                </a:solidFill>
              </a:rPr>
              <a:t>Dispatch internally calls Location, Surge, Payment, Trip, and Notification over gRPC.</a:t>
            </a:r>
            <a:endParaRPr lang="en-US" sz="1600" dirty="0"/>
          </a:p>
          <a:p>
            <a:r>
              <a:rPr lang="en-US" sz="1600" dirty="0">
                <a:solidFill>
                  <a:srgbClr val="10202A"/>
                </a:solidFill>
              </a:rPr>
              <a:t>Simulate driver decline and trigger reassignment.</a:t>
            </a:r>
            <a:endParaRPr lang="en-US" sz="1600" dirty="0"/>
          </a:p>
          <a:p>
            <a:r>
              <a:rPr lang="en-US" sz="1600" dirty="0">
                <a:solidFill>
                  <a:srgbClr val="10202A"/>
                </a:solidFill>
              </a:rPr>
              <a:t>Trigger Trip SOS endpoint and show safety incident response.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52578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Close: REST edge + gRPC hot path + Redis/Kafka/DB + region-local writes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636B"/>
                </a:solidFill>
              </a:rPr>
              <a:t>Multi-Region Ride-Hailing Platform | 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Assignment Deliverables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Multi-Region Ride-Hailing Platform</dc:title>
  <dc:subject>Multi-region ride-hailing platform architecture</dc:subject>
  <dc:creator>Codex</dc:creator>
  <cp:lastModifiedBy>Codex</cp:lastModifiedBy>
  <cp:revision>1</cp:revision>
  <dcterms:created xsi:type="dcterms:W3CDTF">2026-05-22T02:00:46Z</dcterms:created>
  <dcterms:modified xsi:type="dcterms:W3CDTF">2026-05-22T02:00:46Z</dcterms:modified>
</cp:coreProperties>
</file>